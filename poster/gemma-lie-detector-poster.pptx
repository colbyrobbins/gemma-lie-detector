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" d="100"/>
          <a:sy n="30" d="100"/>
        </p:scale>
        <p:origin x="71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496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bleacherreport.com/duke-basketball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266251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06824" y="364524"/>
            <a:ext cx="18153529" cy="141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Lie Detector</a:t>
            </a:r>
            <a:endParaRPr lang="en-US" sz="9500" dirty="0"/>
          </a:p>
        </p:txBody>
      </p:sp>
      <p:sp>
        <p:nvSpPr>
          <p:cNvPr id="5" name="Text 3"/>
          <p:cNvSpPr txBox="1"/>
          <p:nvPr/>
        </p:nvSpPr>
        <p:spPr>
          <a:xfrm>
            <a:off x="806824" y="1896034"/>
            <a:ext cx="18758647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Colby Robbins  ·  Duke AIPI  ·  XAI  ·  10/19/2026</a:t>
            </a:r>
            <a:endParaRPr lang="en-US" sz="3500" dirty="0"/>
          </a:p>
        </p:txBody>
      </p:sp>
      <p:sp>
        <p:nvSpPr>
          <p:cNvPr id="10" name="Text 8"/>
          <p:cNvSpPr txBox="1"/>
          <p:nvPr/>
        </p:nvSpPr>
        <p:spPr>
          <a:xfrm>
            <a:off x="820339" y="3116809"/>
            <a:ext cx="9076765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cs typeface="Arial" pitchFamily="34" charset="-120"/>
              </a:rPr>
              <a:t>THE QUESTION &amp; PRIMARY TEST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06824" y="4034118"/>
            <a:ext cx="3245246" cy="1089212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8529" y="4155141"/>
            <a:ext cx="2841834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5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08529" y="4518212"/>
            <a:ext cx="2841834" cy="524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4B-it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4213434" y="4034118"/>
            <a:ext cx="3245246" cy="1089212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415140" y="4155141"/>
            <a:ext cx="2841834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5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15140" y="4518212"/>
            <a:ext cx="2841834" cy="524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 movie reviews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7620045" y="4034118"/>
            <a:ext cx="3245246" cy="1089212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821751" y="4155141"/>
            <a:ext cx="2841834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5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821751" y="4518212"/>
            <a:ext cx="2841834" cy="524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reviews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806824" y="5284694"/>
            <a:ext cx="10058467" cy="2259106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89212" y="5486400"/>
            <a:ext cx="9493691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cs typeface="Arial" pitchFamily="34" charset="-120"/>
              </a:rPr>
              <a:t>QUESTION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036514" y="6031006"/>
            <a:ext cx="949369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en-US" sz="3500" dirty="0"/>
              <a:t>Do Gemma’s self-explanations match the input features that actually drive its decisions?</a:t>
            </a:r>
          </a:p>
        </p:txBody>
      </p:sp>
      <p:sp>
        <p:nvSpPr>
          <p:cNvPr id="23" name="Shape 21"/>
          <p:cNvSpPr/>
          <p:nvPr/>
        </p:nvSpPr>
        <p:spPr>
          <a:xfrm>
            <a:off x="806824" y="7705165"/>
            <a:ext cx="10058467" cy="4679576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02727" y="8755670"/>
            <a:ext cx="2017059" cy="1008529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102727" y="8755670"/>
            <a:ext cx="2017059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review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3200468" y="8755670"/>
            <a:ext cx="443753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8D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3724903" y="8755670"/>
            <a:ext cx="2420471" cy="1008529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3724903" y="8755670"/>
            <a:ext cx="2420471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to Gemma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226056" y="8755670"/>
            <a:ext cx="443753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8D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6750491" y="8755670"/>
            <a:ext cx="3832412" cy="463924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750491" y="8755670"/>
            <a:ext cx="3832412" cy="46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(next-word probabilities)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750491" y="9300276"/>
            <a:ext cx="3832412" cy="463924"/>
          </a:xfrm>
          <a:prstGeom prst="rect">
            <a:avLst/>
          </a:prstGeom>
          <a:solidFill>
            <a:srgbClr val="FFFFFF"/>
          </a:solidFill>
          <a:ln w="1905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750491" y="9300276"/>
            <a:ext cx="3832412" cy="46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3 cited words + reason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1036512" y="10249929"/>
            <a:ext cx="9493691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delete words and check whether the decision flips: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1009611" y="10917012"/>
            <a:ext cx="2864224" cy="605118"/>
          </a:xfrm>
          <a:prstGeom prst="rect">
            <a:avLst/>
          </a:prstGeom>
          <a:solidFill>
            <a:srgbClr val="FFFFFF"/>
          </a:solidFill>
          <a:ln w="254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009611" y="10917012"/>
            <a:ext cx="2864224" cy="60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cited words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3994858" y="10917012"/>
            <a:ext cx="3065929" cy="605118"/>
          </a:xfrm>
          <a:prstGeom prst="rect">
            <a:avLst/>
          </a:prstGeom>
          <a:solidFill>
            <a:srgbClr val="FFFFFF"/>
          </a:solidFill>
          <a:ln w="254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3994858" y="10917012"/>
            <a:ext cx="3065929" cy="60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top words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7181811" y="10917012"/>
            <a:ext cx="3469341" cy="605118"/>
          </a:xfrm>
          <a:prstGeom prst="rect">
            <a:avLst/>
          </a:prstGeom>
          <a:solidFill>
            <a:srgbClr val="FFFFFF"/>
          </a:solidFill>
          <a:ln w="254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7181811" y="10917012"/>
            <a:ext cx="3469341" cy="60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 top words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22098433" y="4097902"/>
            <a:ext cx="9641541" cy="2107454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22335495" y="4876364"/>
            <a:ext cx="9090279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"A previous reviewer noted that this review is negative." If the answer flips, does the explanation mention the hint?</a:t>
            </a:r>
            <a:endParaRPr lang="en-US" sz="2800" dirty="0"/>
          </a:p>
        </p:txBody>
      </p:sp>
      <p:sp>
        <p:nvSpPr>
          <p:cNvPr id="44" name="Shape 42"/>
          <p:cNvSpPr/>
          <p:nvPr/>
        </p:nvSpPr>
        <p:spPr>
          <a:xfrm>
            <a:off x="806824" y="12546106"/>
            <a:ext cx="10058467" cy="4881282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1089212" y="13286965"/>
            <a:ext cx="9493691" cy="60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3200" b="1" dirty="0">
                <a:solidFill>
                  <a:srgbClr val="111110"/>
                </a:solidFill>
                <a:highlight>
                  <a:srgbClr val="D3E3F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</a:t>
            </a:r>
            <a:r>
              <a:rPr lang="en-US" sz="3200" b="1" dirty="0">
                <a:solidFill>
                  <a:srgbClr val="111110"/>
                </a:solidFill>
                <a:highlight>
                  <a:srgbClr val="FBD5C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111110"/>
                </a:solidFill>
                <a:highlight>
                  <a:srgbClr val="FBD5C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anarchic</a:t>
            </a: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111110"/>
                </a:solidFill>
                <a:highlight>
                  <a:srgbClr val="D3E3F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flair</a:t>
            </a: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  <a:endParaRPr lang="en-US" sz="3200" dirty="0"/>
          </a:p>
        </p:txBody>
      </p:sp>
      <p:sp>
        <p:nvSpPr>
          <p:cNvPr id="47" name="Text 45"/>
          <p:cNvSpPr txBox="1"/>
          <p:nvPr/>
        </p:nvSpPr>
        <p:spPr>
          <a:xfrm>
            <a:off x="1089212" y="14122319"/>
            <a:ext cx="94936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highlight = cited by Gemma.  Blue highlight = occlusion's top 2 words.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1089212" y="14563165"/>
            <a:ext cx="9493691" cy="8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says: </a:t>
            </a:r>
            <a:r>
              <a:rPr lang="en-US" sz="26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word 'anarchic' suggests a rebellious and exciting quality, indicating a positive sentiment.”</a:t>
            </a:r>
            <a:endParaRPr lang="en-US" sz="2600" dirty="0"/>
          </a:p>
        </p:txBody>
      </p:sp>
      <p:sp>
        <p:nvSpPr>
          <p:cNvPr id="49" name="Text 47"/>
          <p:cNvSpPr txBox="1"/>
          <p:nvPr/>
        </p:nvSpPr>
        <p:spPr>
          <a:xfrm>
            <a:off x="1036513" y="15470842"/>
            <a:ext cx="9493691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Gemma's 2 cited words: </a:t>
            </a:r>
            <a:r>
              <a:rPr lang="en-US" sz="24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20.8 → 21.5, decision stays.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1036514" y="15985282"/>
            <a:ext cx="9493691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occlusion's top 2 words: </a:t>
            </a:r>
            <a:r>
              <a:rPr lang="en-US" sz="24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20.8 → −16.0, decision flips.</a:t>
            </a:r>
            <a:endParaRPr lang="en-US" sz="2400" dirty="0"/>
          </a:p>
        </p:txBody>
      </p:sp>
      <p:sp>
        <p:nvSpPr>
          <p:cNvPr id="54" name="Text 52"/>
          <p:cNvSpPr txBox="1"/>
          <p:nvPr/>
        </p:nvSpPr>
        <p:spPr>
          <a:xfrm>
            <a:off x="11459386" y="3075378"/>
            <a:ext cx="9076765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cs typeface="Arial" pitchFamily="34" charset="-120"/>
              </a:rPr>
              <a:t>PRIMARY FINDINGS</a:t>
            </a:r>
            <a:endParaRPr lang="en-US" sz="4000" dirty="0"/>
          </a:p>
        </p:txBody>
      </p:sp>
      <p:sp>
        <p:nvSpPr>
          <p:cNvPr id="55" name="Shape 53"/>
          <p:cNvSpPr/>
          <p:nvPr/>
        </p:nvSpPr>
        <p:spPr>
          <a:xfrm>
            <a:off x="11430067" y="4034118"/>
            <a:ext cx="10058467" cy="5446059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0" descr="Bar chart: share of reviews where deleting words flips the decision, for random, cited, occlusion and integrated-gradients wor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742" y="4106704"/>
            <a:ext cx="7463118" cy="5300886"/>
          </a:xfrm>
          <a:prstGeom prst="rect">
            <a:avLst/>
          </a:prstGeom>
        </p:spPr>
      </p:pic>
      <p:sp>
        <p:nvSpPr>
          <p:cNvPr id="57" name="Shape 54"/>
          <p:cNvSpPr/>
          <p:nvPr/>
        </p:nvSpPr>
        <p:spPr>
          <a:xfrm>
            <a:off x="11430067" y="9641541"/>
            <a:ext cx="10058467" cy="4679576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6" name="Figure 3 who flips" descr="Stacked bar: of 300 reviews, 24 flip only when Gemma cited words are deleted, 58 flip under both tests, 53 only for occlusion top words, 165 neith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7742" y="10125527"/>
            <a:ext cx="7463118" cy="3711604"/>
          </a:xfrm>
          <a:prstGeom prst="rect">
            <a:avLst/>
          </a:prstGeom>
        </p:spPr>
      </p:pic>
      <p:sp>
        <p:nvSpPr>
          <p:cNvPr id="59" name="Shape 55"/>
          <p:cNvSpPr/>
          <p:nvPr/>
        </p:nvSpPr>
        <p:spPr>
          <a:xfrm>
            <a:off x="11430067" y="14482482"/>
            <a:ext cx="10058467" cy="2944906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 txBox="1"/>
          <p:nvPr/>
        </p:nvSpPr>
        <p:spPr>
          <a:xfrm>
            <a:off x="11712455" y="14684188"/>
            <a:ext cx="9493691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THE CHOICE</a:t>
            </a:r>
            <a:endParaRPr lang="en-US" sz="2500" dirty="0"/>
          </a:p>
        </p:txBody>
      </p:sp>
      <p:sp>
        <p:nvSpPr>
          <p:cNvPr id="61" name="Text 57"/>
          <p:cNvSpPr txBox="1"/>
          <p:nvPr/>
        </p:nvSpPr>
        <p:spPr>
          <a:xfrm>
            <a:off x="11712455" y="15168282"/>
            <a:ext cx="9493691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reviews flip when the cited words are deleted, vs 7% for random words</a:t>
            </a:r>
            <a:endParaRPr lang="en-US" sz="2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Occlusion's top words flip 37%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words sometimes leave out the full picture, with more influential factors being hidden</a:t>
            </a:r>
          </a:p>
        </p:txBody>
      </p:sp>
      <p:sp>
        <p:nvSpPr>
          <p:cNvPr id="64" name="Text 60"/>
          <p:cNvSpPr txBox="1"/>
          <p:nvPr/>
        </p:nvSpPr>
        <p:spPr>
          <a:xfrm>
            <a:off x="22098433" y="3116809"/>
            <a:ext cx="9076765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TEST</a:t>
            </a:r>
            <a:endParaRPr lang="en-US" sz="4000" dirty="0"/>
          </a:p>
        </p:txBody>
      </p:sp>
      <p:pic>
        <p:nvPicPr>
          <p:cNvPr id="65" name="Image 2" descr="100 percent bars: when a planted hint flips the decision, how often the explanation mentions the hi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9285" y="6476840"/>
            <a:ext cx="9856762" cy="2963459"/>
          </a:xfrm>
          <a:prstGeom prst="rect">
            <a:avLst/>
          </a:prstGeom>
        </p:spPr>
      </p:pic>
      <p:sp>
        <p:nvSpPr>
          <p:cNvPr id="66" name="Shape 61"/>
          <p:cNvSpPr/>
          <p:nvPr/>
        </p:nvSpPr>
        <p:spPr>
          <a:xfrm>
            <a:off x="22098433" y="9807901"/>
            <a:ext cx="10058467" cy="4554284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2"/>
          <p:cNvSpPr txBox="1"/>
          <p:nvPr/>
        </p:nvSpPr>
        <p:spPr>
          <a:xfrm>
            <a:off x="22335497" y="9970448"/>
            <a:ext cx="9493691" cy="36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5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PLANTED HINT</a:t>
            </a:r>
            <a:endParaRPr lang="en-US" sz="3000" dirty="0"/>
          </a:p>
        </p:txBody>
      </p:sp>
      <p:sp>
        <p:nvSpPr>
          <p:cNvPr id="68" name="Text 63"/>
          <p:cNvSpPr txBox="1"/>
          <p:nvPr/>
        </p:nvSpPr>
        <p:spPr>
          <a:xfrm>
            <a:off x="22335496" y="10546492"/>
            <a:ext cx="9493691" cy="927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is quiet , threatening and unforgettable . </a:t>
            </a:r>
            <a:r>
              <a:rPr lang="en-US" sz="3000" dirty="0">
                <a:solidFill>
                  <a:srgbClr val="111110"/>
                </a:solidFill>
                <a:highlight>
                  <a:srgbClr val="D3E3F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[A previous reviewer noted that this review is negative .]</a:t>
            </a:r>
            <a:endParaRPr lang="en-US" sz="3000" dirty="0"/>
          </a:p>
        </p:txBody>
      </p:sp>
      <p:sp>
        <p:nvSpPr>
          <p:cNvPr id="69" name="Text 64"/>
          <p:cNvSpPr txBox="1"/>
          <p:nvPr/>
        </p:nvSpPr>
        <p:spPr>
          <a:xfrm>
            <a:off x="22335499" y="11782718"/>
            <a:ext cx="9493691" cy="48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hint: </a:t>
            </a:r>
            <a:r>
              <a:rPr lang="en-US" sz="28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positive.   </a:t>
            </a:r>
            <a:r>
              <a:rPr lang="en-US" sz="2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hint: </a:t>
            </a:r>
            <a:r>
              <a:rPr lang="en-US" sz="28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negative.</a:t>
            </a:r>
            <a:endParaRPr lang="en-US" sz="2800" dirty="0"/>
          </a:p>
        </p:txBody>
      </p:sp>
      <p:sp>
        <p:nvSpPr>
          <p:cNvPr id="70" name="Text 65"/>
          <p:cNvSpPr txBox="1"/>
          <p:nvPr/>
        </p:nvSpPr>
        <p:spPr>
          <a:xfrm>
            <a:off x="22335501" y="12472786"/>
            <a:ext cx="9493691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words: </a:t>
            </a:r>
            <a:r>
              <a:rPr lang="en-US" sz="28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threatening, negative</a:t>
            </a:r>
            <a:endParaRPr lang="en-US" sz="2800" dirty="0"/>
          </a:p>
        </p:txBody>
      </p:sp>
      <p:sp>
        <p:nvSpPr>
          <p:cNvPr id="71" name="Text 66"/>
          <p:cNvSpPr txBox="1"/>
          <p:nvPr/>
        </p:nvSpPr>
        <p:spPr>
          <a:xfrm>
            <a:off x="22335500" y="13188023"/>
            <a:ext cx="9493691" cy="9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</a:t>
            </a:r>
            <a:r>
              <a:rPr lang="en-US" sz="2800" i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"Despite calling it 'unforgettable,' the use of 'threatening' indicates a negative overall impression."</a:t>
            </a:r>
            <a:endParaRPr lang="en-US" sz="2800" dirty="0"/>
          </a:p>
        </p:txBody>
      </p:sp>
      <p:sp>
        <p:nvSpPr>
          <p:cNvPr id="74" name="Shape 68"/>
          <p:cNvSpPr/>
          <p:nvPr/>
        </p:nvSpPr>
        <p:spPr>
          <a:xfrm>
            <a:off x="22053109" y="14563165"/>
            <a:ext cx="10058467" cy="2864224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9"/>
          <p:cNvSpPr txBox="1"/>
          <p:nvPr/>
        </p:nvSpPr>
        <p:spPr>
          <a:xfrm>
            <a:off x="22335497" y="14764871"/>
            <a:ext cx="9493691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B6834"/>
                </a:solidFill>
                <a:latin typeface="Arial" pitchFamily="34" charset="0"/>
                <a:cs typeface="Arial" pitchFamily="34" charset="-120"/>
              </a:rPr>
              <a:t>DID THE CUE GET CREDIT</a:t>
            </a:r>
            <a:endParaRPr lang="en-US" sz="2500" dirty="0"/>
          </a:p>
        </p:txBody>
      </p:sp>
      <p:sp>
        <p:nvSpPr>
          <p:cNvPr id="76" name="Text 70"/>
          <p:cNvSpPr txBox="1"/>
          <p:nvPr/>
        </p:nvSpPr>
        <p:spPr>
          <a:xfrm>
            <a:off x="22335497" y="15248965"/>
            <a:ext cx="9493691" cy="197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8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third of hint-caused flips never refer to the hint (explicit 31%, opinion 38%)</a:t>
            </a:r>
            <a:endParaRPr lang="en-US" sz="2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8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“mentions” include strict keyword references to the hint as a hint/other review</a:t>
            </a:r>
            <a:endParaRPr lang="en-US" sz="2800" dirty="0"/>
          </a:p>
        </p:txBody>
      </p:sp>
      <p:sp>
        <p:nvSpPr>
          <p:cNvPr id="77" name="Shape 71"/>
          <p:cNvSpPr/>
          <p:nvPr/>
        </p:nvSpPr>
        <p:spPr>
          <a:xfrm>
            <a:off x="806824" y="17750118"/>
            <a:ext cx="14563165" cy="2662518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2"/>
          <p:cNvSpPr txBox="1"/>
          <p:nvPr/>
        </p:nvSpPr>
        <p:spPr>
          <a:xfrm>
            <a:off x="1089212" y="17951824"/>
            <a:ext cx="13998388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3000" dirty="0"/>
          </a:p>
        </p:txBody>
      </p:sp>
      <p:sp>
        <p:nvSpPr>
          <p:cNvPr id="79" name="Text 73"/>
          <p:cNvSpPr txBox="1"/>
          <p:nvPr/>
        </p:nvSpPr>
        <p:spPr>
          <a:xfrm>
            <a:off x="1089212" y="18435918"/>
            <a:ext cx="13998388" cy="1775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Gemma’s cited words do genuinely drive its decisions, however post-hoc XAI techniques sometimes highlight unmentioned words of greater influence.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33% of the time, Gemma leaves out a planted cue in its explanation that caused a decision flip and instead fabricates justification for its new opinion. 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self-explainability has limits and should not be taken as a complete picture of model decisions.</a:t>
            </a:r>
            <a:endParaRPr lang="en-US" sz="2400" dirty="0"/>
          </a:p>
        </p:txBody>
      </p:sp>
      <p:sp>
        <p:nvSpPr>
          <p:cNvPr id="80" name="Shape 74"/>
          <p:cNvSpPr/>
          <p:nvPr/>
        </p:nvSpPr>
        <p:spPr>
          <a:xfrm>
            <a:off x="15692719" y="17750118"/>
            <a:ext cx="13765789" cy="2662518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5"/>
          <p:cNvSpPr txBox="1"/>
          <p:nvPr/>
        </p:nvSpPr>
        <p:spPr>
          <a:xfrm>
            <a:off x="15975106" y="17951824"/>
            <a:ext cx="11335871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NEXT STEPS</a:t>
            </a:r>
            <a:endParaRPr lang="en-US" sz="3000" dirty="0"/>
          </a:p>
        </p:txBody>
      </p:sp>
      <p:sp>
        <p:nvSpPr>
          <p:cNvPr id="82" name="Text 76"/>
          <p:cNvSpPr txBox="1"/>
          <p:nvPr/>
        </p:nvSpPr>
        <p:spPr>
          <a:xfrm>
            <a:off x="15975106" y="18435918"/>
            <a:ext cx="12964418" cy="1775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study specific to Gemma 3 4B-it and SST-2 movie reviews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occlusion technique misses interactions between words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 could not reliably identify influential words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future: larger models, multimodal decision tests (tabular data, images, etc.) </a:t>
            </a:r>
            <a:endParaRPr lang="en-US" sz="2600" dirty="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B0FD794A-9FF7-1059-28A3-A97BDC823B20}"/>
              </a:ext>
            </a:extLst>
          </p:cNvPr>
          <p:cNvSpPr txBox="1"/>
          <p:nvPr/>
        </p:nvSpPr>
        <p:spPr>
          <a:xfrm>
            <a:off x="1089212" y="7906871"/>
            <a:ext cx="9493691" cy="36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5544F"/>
                </a:solidFill>
                <a:latin typeface="Arial" pitchFamily="34" charset="0"/>
                <a:cs typeface="Arial" pitchFamily="34" charset="-120"/>
              </a:rPr>
              <a:t>THE DELETION TEST</a:t>
            </a:r>
            <a:endParaRPr lang="en-US" sz="2500" dirty="0"/>
          </a:p>
        </p:txBody>
      </p:sp>
      <p:sp>
        <p:nvSpPr>
          <p:cNvPr id="91" name="Text 22">
            <a:extLst>
              <a:ext uri="{FF2B5EF4-FFF2-40B4-BE49-F238E27FC236}">
                <a16:creationId xmlns:a16="http://schemas.microsoft.com/office/drawing/2014/main" id="{EE7AA2CB-8B38-781B-2BD2-78307D85CD2F}"/>
              </a:ext>
            </a:extLst>
          </p:cNvPr>
          <p:cNvSpPr txBox="1"/>
          <p:nvPr/>
        </p:nvSpPr>
        <p:spPr>
          <a:xfrm>
            <a:off x="1008529" y="12707470"/>
            <a:ext cx="9493691" cy="36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5544F"/>
                </a:solidFill>
                <a:latin typeface="Arial" pitchFamily="34" charset="0"/>
                <a:cs typeface="Arial" pitchFamily="34" charset="-120"/>
              </a:rPr>
              <a:t>EXAMPLE REVIEW</a:t>
            </a:r>
            <a:endParaRPr lang="en-US" sz="2500" dirty="0"/>
          </a:p>
        </p:txBody>
      </p:sp>
      <p:sp>
        <p:nvSpPr>
          <p:cNvPr id="6" name="Text 22">
            <a:extLst>
              <a:ext uri="{FF2B5EF4-FFF2-40B4-BE49-F238E27FC236}">
                <a16:creationId xmlns:a16="http://schemas.microsoft.com/office/drawing/2014/main" id="{DB84C696-DCAF-1960-069A-D7136BD18AAF}"/>
              </a:ext>
            </a:extLst>
          </p:cNvPr>
          <p:cNvSpPr txBox="1"/>
          <p:nvPr/>
        </p:nvSpPr>
        <p:spPr>
          <a:xfrm>
            <a:off x="22335495" y="4300320"/>
            <a:ext cx="9493691" cy="36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5544F"/>
                </a:solidFill>
                <a:latin typeface="Arial" pitchFamily="34" charset="0"/>
                <a:cs typeface="Arial" pitchFamily="34" charset="-120"/>
              </a:rPr>
              <a:t>THE PLANTED CUE</a:t>
            </a:r>
            <a:endParaRPr lang="en-US" sz="3000" dirty="0"/>
          </a:p>
        </p:txBody>
      </p:sp>
      <p:sp>
        <p:nvSpPr>
          <p:cNvPr id="4" name="QR box"/>
          <p:cNvSpPr/>
          <p:nvPr/>
        </p:nvSpPr>
        <p:spPr>
          <a:xfrm>
            <a:off x="29718000" y="17750118"/>
            <a:ext cx="2377440" cy="2662518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2" name="QR label"/>
          <p:cNvSpPr txBox="1"/>
          <p:nvPr/>
        </p:nvSpPr>
        <p:spPr>
          <a:xfrm>
            <a:off x="29855160" y="1788727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EB6834"/>
                </a:solidFill>
                <a:latin typeface="Arial"/>
              </a:rPr>
              <a:t>SCAN FOR DEMO</a:t>
            </a:r>
          </a:p>
        </p:txBody>
      </p:sp>
      <p:pic>
        <p:nvPicPr>
          <p:cNvPr id="97" name="QR code" descr="QR code linking to the live Gemma Lie Detector dem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29480" y="18298758"/>
            <a:ext cx="1554480" cy="1554480"/>
          </a:xfrm>
          <a:prstGeom prst="rect">
            <a:avLst/>
          </a:prstGeom>
        </p:spPr>
      </p:pic>
      <p:sp>
        <p:nvSpPr>
          <p:cNvPr id="94" name="QR link"/>
          <p:cNvSpPr txBox="1"/>
          <p:nvPr/>
        </p:nvSpPr>
        <p:spPr>
          <a:xfrm>
            <a:off x="29855160" y="1989895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111110"/>
                </a:solidFill>
                <a:latin typeface="Calibri"/>
              </a:rPr>
              <a:t>gemma-lie-detector.streamlit.app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4354CC-F934-AA0C-6217-6A18243750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9938286" y="191066"/>
            <a:ext cx="2224588" cy="22245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459</Words>
  <Application>Microsoft Office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Lie Detector poster</dc:title>
  <dc:subject>PptxGenJS Presentation</dc:subject>
  <dc:creator>PptxGenJS</dc:creator>
  <cp:lastModifiedBy>Colby Robbins</cp:lastModifiedBy>
  <cp:revision>5</cp:revision>
  <dcterms:created xsi:type="dcterms:W3CDTF">2026-10-18T17:15:19Z</dcterms:created>
  <dcterms:modified xsi:type="dcterms:W3CDTF">2026-10-18T19:37:25Z</dcterms:modified>
</cp:coreProperties>
</file>